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1B2A4E"/>
                </a:solidFill>
                <a:latin typeface="Arial"/>
                <a:cs typeface="Arial"/>
              </a:rPr>
              <a:t>PARAKH — a review queue, not a verdict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200" b="0" i="0" dirty="0">
                <a:solidFill>
                  <a:srgbClr val="51607A"/>
                </a:solidFill>
                <a:latin typeface="Arial"/>
                <a:cs typeface="Arial"/>
              </a:rPr>
              <a:t>Anomaly flagging for MPLADS implementation records</a:t>
            </a:r>
          </a:p>
          <a:p>
            <a:pPr algn="l"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334155"/>
                </a:solidFill>
                <a:latin typeface="Arial"/>
                <a:cs typeface="Arial"/>
              </a:rPr>
              <a:t>Problem Statement ID – SIH26102</a:t>
            </a:r>
          </a:p>
          <a:p>
            <a:pPr algn="l"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334155"/>
                </a:solidFill>
                <a:latin typeface="Arial"/>
                <a:cs typeface="Arial"/>
              </a:rPr>
              <a:t>Problem Statement Title – Fraud &amp; Anomaly Detection in MPLADS Scheme</a:t>
            </a:r>
          </a:p>
          <a:p>
            <a:pPr algn="l"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B45309"/>
                </a:solidFill>
                <a:latin typeface="Arial"/>
                <a:cs typeface="Arial"/>
              </a:rPr>
              <a:t>Theme – &lt;&lt;fill from the SIH portal&gt;&gt;</a:t>
            </a:r>
          </a:p>
          <a:p>
            <a:pPr algn="l"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334155"/>
                </a:solidFill>
                <a:latin typeface="Arial"/>
                <a:cs typeface="Arial"/>
              </a:rPr>
              <a:t>PS Category – Software</a:t>
            </a:r>
          </a:p>
          <a:p>
            <a:pPr algn="l"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B45309"/>
                </a:solidFill>
                <a:latin typeface="Arial"/>
                <a:cs typeface="Arial"/>
              </a:rPr>
              <a:t>Team ID – &lt;&lt;fill from the SIH portal&gt;&gt;</a:t>
            </a:r>
          </a:p>
          <a:p>
            <a:pPr algn="l"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B45309"/>
                </a:solidFill>
                <a:latin typeface="Arial"/>
                <a:cs typeface="Arial"/>
              </a:rPr>
              <a:t>Team Name – &lt;&lt;registered team name&gt;&gt;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PARAKH  ·  SIH26102  ·  MoSPI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B2A4E"/>
                </a:solidFill>
              </a:rPr>
              <a:t>PARAKH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01" name="Strip"/>
          <p:cNvSpPr txBox="1"/>
          <p:nvPr/>
        </p:nvSpPr>
        <p:spPr>
          <a:xfrm>
            <a:off x="320040" y="1152144"/>
            <a:ext cx="11548872" cy="530352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/>
                <a:cs typeface="Arial"/>
              </a:rPr>
              <a:t>PARAKH — a review queue for MPLADS implementation records. Not a verdict.</a:t>
            </a:r>
          </a:p>
        </p:txBody>
      </p:sp>
      <p:sp>
        <p:nvSpPr>
          <p:cNvPr id="4002" name="PanelHead"/>
          <p:cNvSpPr txBox="1"/>
          <p:nvPr/>
        </p:nvSpPr>
        <p:spPr>
          <a:xfrm>
            <a:off x="320040" y="1847088"/>
            <a:ext cx="368503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THE PROBLEM</a:t>
            </a:r>
          </a:p>
        </p:txBody>
      </p:sp>
      <p:sp>
        <p:nvSpPr>
          <p:cNvPr id="4003" name="PanelBody"/>
          <p:cNvSpPr txBox="1"/>
          <p:nvPr/>
        </p:nvSpPr>
        <p:spPr>
          <a:xfrm>
            <a:off x="320040" y="2212848"/>
            <a:ext cx="3685032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MPLADS funds ₹5 crore of local works per MP each year — 1,31,437 works this term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Sanctions, payments and completion status sit in separate exports that are never joined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No single place a citizen, auditor or ministry can see the scheme whole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Manual audit reaches a small sample, years after the money moved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An automated tool that names culprits is a defamation engine, not oversight</a:t>
            </a:r>
          </a:p>
        </p:txBody>
      </p:sp>
      <p:sp>
        <p:nvSpPr>
          <p:cNvPr id="4004" name="PanelHead"/>
          <p:cNvSpPr txBox="1"/>
          <p:nvPr/>
        </p:nvSpPr>
        <p:spPr>
          <a:xfrm>
            <a:off x="4251960" y="1847088"/>
            <a:ext cx="368503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OUR SOLUTION</a:t>
            </a:r>
          </a:p>
        </p:txBody>
      </p:sp>
      <p:sp>
        <p:nvSpPr>
          <p:cNvPr id="4005" name="PanelBody"/>
          <p:cNvSpPr txBox="1"/>
          <p:nvPr/>
        </p:nvSpPr>
        <p:spPr>
          <a:xfrm>
            <a:off x="4251960" y="2212848"/>
            <a:ext cx="3685032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A batch pipeline joins the exports into one queryable corpus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13 detectors surface works that warrant a second look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Every flag states its evidence in one plain, checkable sentence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Every flag carries a plausible innocent explanation, shown by default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Reviewers close a flag with a note — suppressed, never deleted, always reversible</a:t>
            </a:r>
          </a:p>
        </p:txBody>
      </p:sp>
      <p:sp>
        <p:nvSpPr>
          <p:cNvPr id="4006" name="PanelHead"/>
          <p:cNvSpPr txBox="1"/>
          <p:nvPr/>
        </p:nvSpPr>
        <p:spPr>
          <a:xfrm>
            <a:off x="8183880" y="1847088"/>
            <a:ext cx="368503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INNOVATION AND UNIQUENESS</a:t>
            </a:r>
          </a:p>
        </p:txBody>
      </p:sp>
      <p:sp>
        <p:nvSpPr>
          <p:cNvPr id="4007" name="PanelBody"/>
          <p:cNvSpPr txBox="1"/>
          <p:nvPr/>
        </p:nvSpPr>
        <p:spPr>
          <a:xfrm>
            <a:off x="8183880" y="2212848"/>
            <a:ext cx="3685032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Flags attach to works. Members of Parliament are never ranked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Two tiers, always visible: A is arithmetic, B is peer-relative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Detectors abstain below 30 peers instead of guessing on noise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Restraint enforced by tests in CI, not promised in a slide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Ships 13 of 16 planned detectors — and says so inside the product</a:t>
            </a:r>
          </a:p>
        </p:txBody>
      </p:sp>
      <p:sp>
        <p:nvSpPr>
          <p:cNvPr id="4008" name="Metric"/>
          <p:cNvSpPr txBox="1"/>
          <p:nvPr/>
        </p:nvSpPr>
        <p:spPr>
          <a:xfrm>
            <a:off x="320040" y="4425696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1B2A4E"/>
                </a:solidFill>
                <a:latin typeface="Arial"/>
                <a:cs typeface="Arial"/>
              </a:rPr>
              <a:t>1,31,437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1000" b="0" i="0" dirty="0">
                <a:solidFill>
                  <a:srgbClr val="51607A"/>
                </a:solidFill>
                <a:latin typeface="Arial"/>
                <a:cs typeface="Arial"/>
              </a:rPr>
              <a:t>works ingested, 18th term</a:t>
            </a:r>
          </a:p>
        </p:txBody>
      </p:sp>
      <p:sp>
        <p:nvSpPr>
          <p:cNvPr id="4009" name="Metric"/>
          <p:cNvSpPr txBox="1"/>
          <p:nvPr/>
        </p:nvSpPr>
        <p:spPr>
          <a:xfrm>
            <a:off x="3255264" y="4425696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1B2A4E"/>
                </a:solidFill>
                <a:latin typeface="Arial"/>
                <a:cs typeface="Arial"/>
              </a:rPr>
              <a:t>13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1000" b="0" i="0" dirty="0">
                <a:solidFill>
                  <a:srgbClr val="51607A"/>
                </a:solidFill>
                <a:latin typeface="Arial"/>
                <a:cs typeface="Arial"/>
              </a:rPr>
              <a:t>detectors: 5 deterministic, 8 statistical</a:t>
            </a:r>
          </a:p>
        </p:txBody>
      </p:sp>
      <p:sp>
        <p:nvSpPr>
          <p:cNvPr id="4010" name="Metric"/>
          <p:cNvSpPr txBox="1"/>
          <p:nvPr/>
        </p:nvSpPr>
        <p:spPr>
          <a:xfrm>
            <a:off x="6190488" y="4425696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1B2A4E"/>
                </a:solidFill>
                <a:latin typeface="Arial"/>
                <a:cs typeface="Arial"/>
              </a:rPr>
              <a:t>5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1000" b="0" i="0" dirty="0">
                <a:solidFill>
                  <a:srgbClr val="51607A"/>
                </a:solidFill>
                <a:latin typeface="Arial"/>
                <a:cs typeface="Arial"/>
              </a:rPr>
              <a:t>independent validation methods</a:t>
            </a:r>
          </a:p>
        </p:txBody>
      </p:sp>
      <p:sp>
        <p:nvSpPr>
          <p:cNvPr id="4011" name="Metric"/>
          <p:cNvSpPr txBox="1"/>
          <p:nvPr/>
        </p:nvSpPr>
        <p:spPr>
          <a:xfrm>
            <a:off x="9125712" y="4425696"/>
            <a:ext cx="2743200" cy="8412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1B2A4E"/>
                </a:solidFill>
                <a:latin typeface="Arial"/>
                <a:cs typeface="Arial"/>
              </a:rPr>
              <a:t>0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1000" b="0" i="0" dirty="0">
                <a:solidFill>
                  <a:srgbClr val="51607A"/>
                </a:solidFill>
                <a:latin typeface="Arial"/>
                <a:cs typeface="Arial"/>
              </a:rPr>
              <a:t>rankings of any Member of Parliament</a:t>
            </a:r>
          </a:p>
        </p:txBody>
      </p:sp>
      <p:sp>
        <p:nvSpPr>
          <p:cNvPr id="4012" name="Band"/>
          <p:cNvSpPr txBox="1"/>
          <p:nvPr/>
        </p:nvSpPr>
        <p:spPr>
          <a:xfrm>
            <a:off x="320040" y="5413248"/>
            <a:ext cx="11548872" cy="731520"/>
          </a:xfrm>
          <a:prstGeom prst="rect">
            <a:avLst/>
          </a:prstGeom>
          <a:solidFill>
            <a:srgbClr val="121D38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2C14E"/>
                </a:solidFill>
                <a:latin typeface="Arial"/>
                <a:cs typeface="Arial"/>
              </a:rPr>
              <a:t>Why this is hard to copy: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150" b="0" i="0" dirty="0">
                <a:solidFill>
                  <a:srgbClr val="FFFFFF"/>
                </a:solidFill>
                <a:latin typeface="Arial"/>
                <a:cs typeface="Arial"/>
              </a:rPr>
              <a:t>The restraint is executable. A test in the build greps the whole codebase for a fixed list of accusatory words, and the assistant refuses to rank members at all — so the guarantee survives contact with a demo, a judge, or a rushed reviewer.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PARAKH  ·  SIH26102  ·  MoSPI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B2A4E"/>
                </a:solidFill>
              </a:rPr>
              <a:t>PARAKH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13" name="Strip"/>
          <p:cNvSpPr txBox="1"/>
          <p:nvPr/>
        </p:nvSpPr>
        <p:spPr>
          <a:xfrm>
            <a:off x="320040" y="1152144"/>
            <a:ext cx="11548872" cy="475488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/>
                <a:cs typeface="Arial"/>
              </a:rPr>
              <a:t>Python · Polars · DuckDB · scikit-learn · LightGBM · NetworkX · FastAPI · Next.js + TypeScript — entirely open source</a:t>
            </a:r>
          </a:p>
        </p:txBody>
      </p:sp>
      <p:sp>
        <p:nvSpPr>
          <p:cNvPr id="4014" name="Stage"/>
          <p:cNvSpPr txBox="1"/>
          <p:nvPr/>
        </p:nvSpPr>
        <p:spPr>
          <a:xfrm>
            <a:off x="320040" y="1773936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50" b="1" i="0" dirty="0">
                <a:solidFill>
                  <a:srgbClr val="FFFFFF"/>
                </a:solidFill>
                <a:latin typeface="Arial"/>
                <a:cs typeface="Arial"/>
              </a:rPr>
              <a:t>1  INGEST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cs typeface="Arial"/>
              </a:rPr>
              <a:t>eSAKSHI CSV exports → Polars → clean Parquet. Hand-downloaded, no scraper.</a:t>
            </a:r>
          </a:p>
        </p:txBody>
      </p:sp>
      <p:sp>
        <p:nvSpPr>
          <p:cNvPr id="4015" name="Arrow"/>
          <p:cNvSpPr/>
          <p:nvPr/>
        </p:nvSpPr>
        <p:spPr>
          <a:xfrm>
            <a:off x="2980944" y="2249424"/>
            <a:ext cx="210312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6" name="Stage"/>
          <p:cNvSpPr txBox="1"/>
          <p:nvPr/>
        </p:nvSpPr>
        <p:spPr>
          <a:xfrm>
            <a:off x="3246120" y="1773936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50" b="1" i="0" dirty="0">
                <a:solidFill>
                  <a:srgbClr val="FFFFFF"/>
                </a:solidFill>
                <a:latin typeface="Arial"/>
                <a:cs typeface="Arial"/>
              </a:rPr>
              <a:t>2  DETECT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cs typeface="Arial"/>
              </a:rPr>
              <a:t>13 detectors and peer distributions computed offline into DuckDB.</a:t>
            </a:r>
          </a:p>
        </p:txBody>
      </p:sp>
      <p:sp>
        <p:nvSpPr>
          <p:cNvPr id="4017" name="Arrow"/>
          <p:cNvSpPr/>
          <p:nvPr/>
        </p:nvSpPr>
        <p:spPr>
          <a:xfrm>
            <a:off x="5907024" y="2249424"/>
            <a:ext cx="210312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8" name="Stage"/>
          <p:cNvSpPr txBox="1"/>
          <p:nvPr/>
        </p:nvSpPr>
        <p:spPr>
          <a:xfrm>
            <a:off x="6172200" y="1773936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50" b="1" i="0" dirty="0">
                <a:solidFill>
                  <a:srgbClr val="FFFFFF"/>
                </a:solidFill>
                <a:latin typeface="Arial"/>
                <a:cs typeface="Arial"/>
              </a:rPr>
              <a:t>3  SERVE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cs typeface="Arial"/>
              </a:rPr>
              <a:t>FastAPI, read-only. Every endpoint is a SELECT; nothing is computed live.</a:t>
            </a:r>
          </a:p>
        </p:txBody>
      </p:sp>
      <p:sp>
        <p:nvSpPr>
          <p:cNvPr id="4019" name="Arrow"/>
          <p:cNvSpPr/>
          <p:nvPr/>
        </p:nvSpPr>
        <p:spPr>
          <a:xfrm>
            <a:off x="8833104" y="2249424"/>
            <a:ext cx="210312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20" name="Stage"/>
          <p:cNvSpPr txBox="1"/>
          <p:nvPr/>
        </p:nvSpPr>
        <p:spPr>
          <a:xfrm>
            <a:off x="9098280" y="1773936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50" b="1" i="0" dirty="0">
                <a:solidFill>
                  <a:srgbClr val="FFFFFF"/>
                </a:solidFill>
                <a:latin typeface="Arial"/>
                <a:cs typeface="Arial"/>
              </a:rPr>
              <a:t>4  REVIEW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000" b="0" i="0" dirty="0">
                <a:solidFill>
                  <a:srgbClr val="FFFFFF"/>
                </a:solidFill>
                <a:latin typeface="Arial"/>
                <a:cs typeface="Arial"/>
              </a:rPr>
              <a:t>Next.js queue: evidence, benign explanation, reversible overrides.</a:t>
            </a:r>
          </a:p>
        </p:txBody>
      </p:sp>
      <p:sp>
        <p:nvSpPr>
          <p:cNvPr id="4021" name="TierAHead"/>
          <p:cNvSpPr txBox="1"/>
          <p:nvPr/>
        </p:nvSpPr>
        <p:spPr>
          <a:xfrm>
            <a:off x="320040" y="3127248"/>
            <a:ext cx="5650992" cy="347472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150" b="1" i="0" dirty="0">
                <a:solidFill>
                  <a:srgbClr val="BE123C"/>
                </a:solidFill>
                <a:latin typeface="Arial"/>
                <a:cs typeface="Arial"/>
              </a:rPr>
              <a:t>TIER A — DETERMINISTIC INTEGRITY  (5)</a:t>
            </a:r>
          </a:p>
        </p:txBody>
      </p:sp>
      <p:sp>
        <p:nvSpPr>
          <p:cNvPr id="4022" name="TierABody"/>
          <p:cNvSpPr txBox="1"/>
          <p:nvPr/>
        </p:nvSpPr>
        <p:spPr>
          <a:xfrm>
            <a:off x="320040" y="3474720"/>
            <a:ext cx="56509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A1  Ledger contradiction — payment exceeds its sanction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A2  Phantom completion — complete, almost nothing paid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A3  Duplicate record — same work ID twice in the export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A4  Orphan sanction — missing agency, state or category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A5  Unverified completion — no photo evidence on file</a:t>
            </a:r>
          </a:p>
        </p:txBody>
      </p:sp>
      <p:sp>
        <p:nvSpPr>
          <p:cNvPr id="4023" name="TierBHead"/>
          <p:cNvSpPr txBox="1"/>
          <p:nvPr/>
        </p:nvSpPr>
        <p:spPr>
          <a:xfrm>
            <a:off x="6217920" y="3127248"/>
            <a:ext cx="5650992" cy="347472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150" b="1" i="0" dirty="0">
                <a:solidFill>
                  <a:srgbClr val="B45309"/>
                </a:solidFill>
                <a:latin typeface="Arial"/>
                <a:cs typeface="Arial"/>
              </a:rPr>
              <a:t>TIER B — PEER-RELATIVE STATISTICAL  (8)</a:t>
            </a:r>
          </a:p>
        </p:txBody>
      </p:sp>
      <p:sp>
        <p:nvSpPr>
          <p:cNvPr id="4024" name="TierBBody"/>
          <p:cNvSpPr txBox="1"/>
          <p:nvPr/>
        </p:nvSpPr>
        <p:spPr>
          <a:xfrm>
            <a:off x="6217920" y="3474720"/>
            <a:ext cx="565099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B1 Peer cost outlier      B2 Cost-per-unit outlier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B3 Stalled vs category P95      B4 Threshold bunching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B5 Work splitting      B6 Agency concentration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B7 Year-end bunching      B8 Near-duplicate funding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Always states its peer group and n; abstains below 30 peers</a:t>
            </a:r>
          </a:p>
        </p:txBody>
      </p:sp>
      <p:sp>
        <p:nvSpPr>
          <p:cNvPr id="4025" name="Band"/>
          <p:cNvSpPr txBox="1"/>
          <p:nvPr/>
        </p:nvSpPr>
        <p:spPr>
          <a:xfrm>
            <a:off x="320040" y="5102352"/>
            <a:ext cx="11548872" cy="1005840"/>
          </a:xfrm>
          <a:prstGeom prst="rect">
            <a:avLst/>
          </a:prstGeom>
          <a:solidFill>
            <a:srgbClr val="121D38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2C14E"/>
                </a:solidFill>
                <a:latin typeface="Arial"/>
                <a:cs typeface="Arial"/>
              </a:rPr>
              <a:t>Reproducible by construction: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150" b="0" i="0" dirty="0">
                <a:solidFill>
                  <a:srgbClr val="FFFFFF"/>
                </a:solidFill>
                <a:latin typeface="Arial"/>
                <a:cs typeface="Arial"/>
              </a:rPr>
              <a:t>Raw CSV → Parquet → DuckDB is one command and a few seconds. The same input always yields the same flags, so any reviewer can re-run the pipeline and reproduce every number. 172 automated tests cover the detectors, the validation methods and the restraint rules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PARAKH  ·  SIH26102  ·  MoSPI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B2A4E"/>
                </a:solidFill>
              </a:rPr>
              <a:t>PARAKH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26" name="Strip"/>
          <p:cNvSpPr txBox="1"/>
          <p:nvPr/>
        </p:nvSpPr>
        <p:spPr>
          <a:xfrm>
            <a:off x="320040" y="1152144"/>
            <a:ext cx="11548872" cy="475488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/>
                <a:cs typeface="Arial"/>
              </a:rPr>
              <a:t>Already running end to end on the full public corpus — 1,31,437 works, not a mock-up.</a:t>
            </a:r>
          </a:p>
        </p:txBody>
      </p:sp>
      <p:sp>
        <p:nvSpPr>
          <p:cNvPr id="4027" name="PanelHead"/>
          <p:cNvSpPr txBox="1"/>
          <p:nvPr/>
        </p:nvSpPr>
        <p:spPr>
          <a:xfrm>
            <a:off x="320040" y="1755648"/>
            <a:ext cx="5074920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WHY IT IS FEASIBLE</a:t>
            </a:r>
          </a:p>
        </p:txBody>
      </p:sp>
      <p:sp>
        <p:nvSpPr>
          <p:cNvPr id="4028" name="PanelBody"/>
          <p:cNvSpPr txBox="1"/>
          <p:nvPr/>
        </p:nvSpPr>
        <p:spPr>
          <a:xfrm>
            <a:off x="320040" y="2121408"/>
            <a:ext cx="50749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Runs today on the complete 18th-term corpus: 1,31,437 works, 1,09,006 payments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Batch and deterministic — no GPU, no per-query model cost, no network at run time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Open-source stack throughout; no licence, quota or vendor lock-in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Rebuilds in seconds, so a reviewer can re-run it and reproduce every flag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100" b="0" i="0" dirty="0">
                <a:solidFill>
                  <a:srgbClr val="334155"/>
                </a:solidFill>
                <a:latin typeface="Arial"/>
                <a:cs typeface="Arial"/>
              </a:rPr>
              <a:t>172 automated tests, including the restraint guarantees</a:t>
            </a:r>
          </a:p>
        </p:txBody>
      </p:sp>
      <p:sp>
        <p:nvSpPr>
          <p:cNvPr id="4029" name="PanelHead"/>
          <p:cNvSpPr txBox="1"/>
          <p:nvPr/>
        </p:nvSpPr>
        <p:spPr>
          <a:xfrm>
            <a:off x="5760720" y="1755648"/>
            <a:ext cx="610819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RISKS AND HOW WE HANDLE THEM</a:t>
            </a:r>
          </a:p>
        </p:txBody>
      </p:sp>
      <p:sp>
        <p:nvSpPr>
          <p:cNvPr id="4030" name="PanelBody"/>
          <p:cNvSpPr txBox="1"/>
          <p:nvPr/>
        </p:nvSpPr>
        <p:spPr>
          <a:xfrm>
            <a:off x="5760720" y="2121408"/>
            <a:ext cx="610819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Naming individuals would defame  →  flags attach to works; ranking members is refused in code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Sparse source fields (quantity 4.9%, photos 23.8%)  →  detectors abstain rather than infer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No labelled ground truth exists  →  five independent validation methods, results published in full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Small peer groups mislead  →  Tier B abstains below 30 peers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Benign patterns look irregular  →  every flag ships its innocent explanation alongside</a:t>
            </a:r>
          </a:p>
        </p:txBody>
      </p:sp>
      <p:sp>
        <p:nvSpPr>
          <p:cNvPr id="4031" name="Band"/>
          <p:cNvSpPr txBox="1"/>
          <p:nvPr/>
        </p:nvSpPr>
        <p:spPr>
          <a:xfrm>
            <a:off x="320040" y="3986784"/>
            <a:ext cx="11548872" cy="896112"/>
          </a:xfrm>
          <a:prstGeom prst="rect">
            <a:avLst/>
          </a:prstGeom>
          <a:solidFill>
            <a:srgbClr val="121D38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2C14E"/>
                </a:solidFill>
                <a:latin typeface="Arial"/>
                <a:cs typeface="Arial"/>
              </a:rPr>
              <a:t>Applied to ourselves: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150" b="0" i="0" dirty="0">
                <a:solidFill>
                  <a:srgbClr val="FFFFFF"/>
                </a:solidFill>
                <a:latin typeface="Arial"/>
                <a:cs typeface="Arial"/>
              </a:rPr>
              <a:t>We did not build the planned third tier — an Isolation Forest, a Local Outlier Factor model and a composite 0–100 priority score. 13 of 16 planned detectors shipped, and that is stated on the product's own Methodology page, not only in this deck.</a:t>
            </a:r>
          </a:p>
        </p:txBody>
      </p:sp>
      <p:sp>
        <p:nvSpPr>
          <p:cNvPr id="4032" name="Chip"/>
          <p:cNvSpPr txBox="1"/>
          <p:nvPr/>
        </p:nvSpPr>
        <p:spPr>
          <a:xfrm>
            <a:off x="320040" y="5047488"/>
            <a:ext cx="368503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1B2A4E"/>
                </a:solidFill>
                <a:latin typeface="Arial"/>
                <a:cs typeface="Arial"/>
              </a:rPr>
              <a:t>FEASIBLE TODAY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51607A"/>
                </a:solidFill>
                <a:latin typeface="Arial"/>
                <a:cs typeface="Arial"/>
              </a:rPr>
              <a:t>Working software on real public data</a:t>
            </a:r>
          </a:p>
        </p:txBody>
      </p:sp>
      <p:sp>
        <p:nvSpPr>
          <p:cNvPr id="4033" name="Chip"/>
          <p:cNvSpPr txBox="1"/>
          <p:nvPr/>
        </p:nvSpPr>
        <p:spPr>
          <a:xfrm>
            <a:off x="4251960" y="5047488"/>
            <a:ext cx="368503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1B2A4E"/>
                </a:solidFill>
                <a:latin typeface="Arial"/>
                <a:cs typeface="Arial"/>
              </a:rPr>
              <a:t>SCALABLE NATIONWIDE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51607A"/>
                </a:solidFill>
                <a:latin typeface="Arial"/>
                <a:cs typeface="Arial"/>
              </a:rPr>
              <a:t>Same pipeline covers every state and both Houses</a:t>
            </a:r>
          </a:p>
        </p:txBody>
      </p:sp>
      <p:sp>
        <p:nvSpPr>
          <p:cNvPr id="4034" name="Chip"/>
          <p:cNvSpPr txBox="1"/>
          <p:nvPr/>
        </p:nvSpPr>
        <p:spPr>
          <a:xfrm>
            <a:off x="8183880" y="5047488"/>
            <a:ext cx="368503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1B2A4E"/>
                </a:solidFill>
                <a:latin typeface="Arial"/>
                <a:cs typeface="Arial"/>
              </a:rPr>
              <a:t>LOW COST TO RUN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51607A"/>
                </a:solidFill>
                <a:latin typeface="Arial"/>
                <a:cs typeface="Arial"/>
              </a:rPr>
              <a:t>Commodity hardware, open source, offline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PARAKH  ·  SIH26102  ·  MoSPI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B2A4E"/>
                </a:solidFill>
              </a:rPr>
              <a:t>PARAKH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35" name="Strip"/>
          <p:cNvSpPr txBox="1"/>
          <p:nvPr/>
        </p:nvSpPr>
        <p:spPr>
          <a:xfrm>
            <a:off x="320040" y="1152144"/>
            <a:ext cx="11548872" cy="475488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/>
                <a:cs typeface="Arial"/>
              </a:rPr>
              <a:t>From 1,31,437 scattered records to a queue a human can actually work through.</a:t>
            </a:r>
          </a:p>
        </p:txBody>
      </p:sp>
      <p:sp>
        <p:nvSpPr>
          <p:cNvPr id="4036" name="Audience"/>
          <p:cNvSpPr txBox="1"/>
          <p:nvPr/>
        </p:nvSpPr>
        <p:spPr>
          <a:xfrm>
            <a:off x="320040" y="1755648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Arial"/>
                <a:cs typeface="Arial"/>
              </a:rPr>
              <a:t>MoSPI AND DISTRICTS</a:t>
            </a:r>
          </a:p>
          <a:p>
            <a:pPr algn="ctr" marL="0" indent="0">
              <a:spcBef>
                <a:spcPts val="250"/>
              </a:spcBef>
              <a:buNone/>
            </a:pPr>
            <a:r>
              <a:rPr lang="en-US" sz="950" b="0" i="0" dirty="0">
                <a:solidFill>
                  <a:srgbClr val="FFFFFF"/>
                </a:solidFill>
                <a:latin typeface="Arial"/>
                <a:cs typeface="Arial"/>
              </a:rPr>
              <a:t>A worklist ordered by evidence rather than by hunch or by complaint</a:t>
            </a:r>
          </a:p>
        </p:txBody>
      </p:sp>
      <p:sp>
        <p:nvSpPr>
          <p:cNvPr id="4037" name="Audience"/>
          <p:cNvSpPr txBox="1"/>
          <p:nvPr/>
        </p:nvSpPr>
        <p:spPr>
          <a:xfrm>
            <a:off x="3255264" y="1755648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Arial"/>
                <a:cs typeface="Arial"/>
              </a:rPr>
              <a:t>AUDITORS</a:t>
            </a:r>
          </a:p>
          <a:p>
            <a:pPr algn="ctr" marL="0" indent="0">
              <a:spcBef>
                <a:spcPts val="250"/>
              </a:spcBef>
              <a:buNone/>
            </a:pPr>
            <a:r>
              <a:rPr lang="en-US" sz="950" b="0" i="0" dirty="0">
                <a:solidFill>
                  <a:srgbClr val="FFFFFF"/>
                </a:solidFill>
                <a:latin typeface="Arial"/>
                <a:cs typeface="Arial"/>
              </a:rPr>
              <a:t>A reproducible shortlist with the arithmetic already shown and citable</a:t>
            </a:r>
          </a:p>
        </p:txBody>
      </p:sp>
      <p:sp>
        <p:nvSpPr>
          <p:cNvPr id="4038" name="Audience"/>
          <p:cNvSpPr txBox="1"/>
          <p:nvPr/>
        </p:nvSpPr>
        <p:spPr>
          <a:xfrm>
            <a:off x="6190488" y="1755648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Arial"/>
                <a:cs typeface="Arial"/>
              </a:rPr>
              <a:t>CITIZENS AND PRESS</a:t>
            </a:r>
          </a:p>
          <a:p>
            <a:pPr algn="ctr" marL="0" indent="0">
              <a:spcBef>
                <a:spcPts val="250"/>
              </a:spcBef>
              <a:buNone/>
            </a:pPr>
            <a:r>
              <a:rPr lang="en-US" sz="950" b="0" i="0" dirty="0">
                <a:solidFill>
                  <a:srgbClr val="FFFFFF"/>
                </a:solidFill>
                <a:latin typeface="Arial"/>
                <a:cs typeface="Arial"/>
              </a:rPr>
              <a:t>The same public data, finally joined and searchable in one place</a:t>
            </a:r>
          </a:p>
        </p:txBody>
      </p:sp>
      <p:sp>
        <p:nvSpPr>
          <p:cNvPr id="4039" name="Audience"/>
          <p:cNvSpPr txBox="1"/>
          <p:nvPr/>
        </p:nvSpPr>
        <p:spPr>
          <a:xfrm>
            <a:off x="9125712" y="1755648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Arial"/>
                <a:cs typeface="Arial"/>
              </a:rPr>
              <a:t>IMPLEMENTING AGENCIES</a:t>
            </a:r>
          </a:p>
          <a:p>
            <a:pPr algn="ctr" marL="0" indent="0">
              <a:spcBef>
                <a:spcPts val="250"/>
              </a:spcBef>
              <a:buNone/>
            </a:pPr>
            <a:r>
              <a:rPr lang="en-US" sz="950" b="0" i="0" dirty="0">
                <a:solidFill>
                  <a:srgbClr val="FFFFFF"/>
                </a:solidFill>
                <a:latin typeface="Arial"/>
                <a:cs typeface="Arial"/>
              </a:rPr>
              <a:t>A chance to explain an ordinary pattern before anything escalates</a:t>
            </a:r>
          </a:p>
        </p:txBody>
      </p:sp>
      <p:sp>
        <p:nvSpPr>
          <p:cNvPr id="4040" name="PanelHead"/>
          <p:cNvSpPr txBox="1"/>
          <p:nvPr/>
        </p:nvSpPr>
        <p:spPr>
          <a:xfrm>
            <a:off x="320040" y="3072384"/>
            <a:ext cx="565099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BEFORE</a:t>
            </a:r>
          </a:p>
        </p:txBody>
      </p:sp>
      <p:sp>
        <p:nvSpPr>
          <p:cNvPr id="4041" name="PanelBody"/>
          <p:cNvSpPr txBox="1"/>
          <p:nvPr/>
        </p:nvSpPr>
        <p:spPr>
          <a:xfrm>
            <a:off x="320040" y="3438144"/>
            <a:ext cx="565099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Sanctions, payments and completion never joined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Oversight by small sample, years after the spending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Irregularities surface as allegations about people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No way to show a pattern was ordinary after all</a:t>
            </a:r>
          </a:p>
        </p:txBody>
      </p:sp>
      <p:sp>
        <p:nvSpPr>
          <p:cNvPr id="4042" name="PanelHead"/>
          <p:cNvSpPr txBox="1"/>
          <p:nvPr/>
        </p:nvSpPr>
        <p:spPr>
          <a:xfrm>
            <a:off x="6217920" y="3072384"/>
            <a:ext cx="565099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AFTER</a:t>
            </a:r>
          </a:p>
        </p:txBody>
      </p:sp>
      <p:sp>
        <p:nvSpPr>
          <p:cNvPr id="4043" name="PanelBody"/>
          <p:cNvSpPr txBox="1"/>
          <p:nvPr/>
        </p:nvSpPr>
        <p:spPr>
          <a:xfrm>
            <a:off x="6217920" y="3438144"/>
            <a:ext cx="565099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One corpus: 1,31,437 works, 1,09,006 payments, 769 agencies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37,701 works flagged with evidence attached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60,339 examined by every detector and cleared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50" b="0" i="0" dirty="0">
                <a:solidFill>
                  <a:srgbClr val="334155"/>
                </a:solidFill>
                <a:latin typeface="Arial"/>
                <a:cs typeface="Arial"/>
              </a:rPr>
              <a:t>Reviewers close flags with a note — reversible, and audited</a:t>
            </a:r>
          </a:p>
        </p:txBody>
      </p:sp>
      <p:sp>
        <p:nvSpPr>
          <p:cNvPr id="4044" name="Benefit"/>
          <p:cNvSpPr txBox="1"/>
          <p:nvPr/>
        </p:nvSpPr>
        <p:spPr>
          <a:xfrm>
            <a:off x="320040" y="4956048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050" b="1" i="0" dirty="0">
                <a:solidFill>
                  <a:srgbClr val="B45309"/>
                </a:solidFill>
                <a:latin typeface="Arial"/>
                <a:cs typeface="Arial"/>
              </a:rPr>
              <a:t>GOVERNANCE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334155"/>
                </a:solidFill>
                <a:latin typeface="Arial"/>
                <a:cs typeface="Arial"/>
              </a:rPr>
              <a:t>Scrutiny that is traceable, reproducible and contestable</a:t>
            </a:r>
          </a:p>
        </p:txBody>
      </p:sp>
      <p:sp>
        <p:nvSpPr>
          <p:cNvPr id="4045" name="Benefit"/>
          <p:cNvSpPr txBox="1"/>
          <p:nvPr/>
        </p:nvSpPr>
        <p:spPr>
          <a:xfrm>
            <a:off x="3255264" y="4956048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050" b="1" i="0" dirty="0">
                <a:solidFill>
                  <a:srgbClr val="B45309"/>
                </a:solidFill>
                <a:latin typeface="Arial"/>
                <a:cs typeface="Arial"/>
              </a:rPr>
              <a:t>ECONOMIC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334155"/>
                </a:solidFill>
                <a:latin typeface="Arial"/>
                <a:cs typeface="Arial"/>
              </a:rPr>
              <a:t>Attention aimed at the works where evidence justifies it</a:t>
            </a:r>
          </a:p>
        </p:txBody>
      </p:sp>
      <p:sp>
        <p:nvSpPr>
          <p:cNvPr id="4046" name="Benefit"/>
          <p:cNvSpPr txBox="1"/>
          <p:nvPr/>
        </p:nvSpPr>
        <p:spPr>
          <a:xfrm>
            <a:off x="6190488" y="4956048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050" b="1" i="0" dirty="0">
                <a:solidFill>
                  <a:srgbClr val="B45309"/>
                </a:solidFill>
                <a:latin typeface="Arial"/>
                <a:cs typeface="Arial"/>
              </a:rPr>
              <a:t>SOCIAL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334155"/>
                </a:solidFill>
                <a:latin typeface="Arial"/>
                <a:cs typeface="Arial"/>
              </a:rPr>
              <a:t>Public money made legible without accusing anyone</a:t>
            </a:r>
          </a:p>
        </p:txBody>
      </p:sp>
      <p:sp>
        <p:nvSpPr>
          <p:cNvPr id="4047" name="Benefit"/>
          <p:cNvSpPr txBox="1"/>
          <p:nvPr/>
        </p:nvSpPr>
        <p:spPr>
          <a:xfrm>
            <a:off x="9125712" y="4956048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050" b="1" i="0" dirty="0">
                <a:solidFill>
                  <a:srgbClr val="B45309"/>
                </a:solidFill>
                <a:latin typeface="Arial"/>
                <a:cs typeface="Arial"/>
              </a:rPr>
              <a:t>NATIONAL SCALE</a:t>
            </a:r>
          </a:p>
          <a:p>
            <a:pPr algn="ctr" marL="0" indent="0">
              <a:spcBef>
                <a:spcPts val="200"/>
              </a:spcBef>
              <a:buNone/>
            </a:pPr>
            <a:r>
              <a:rPr lang="en-US" sz="950" b="0" i="0" dirty="0">
                <a:solidFill>
                  <a:srgbClr val="334155"/>
                </a:solidFill>
                <a:latin typeface="Arial"/>
                <a:cs typeface="Arial"/>
              </a:rPr>
              <a:t>36 states, 733 MPs, both Houses, one pipeline</a:t>
            </a:r>
          </a:p>
        </p:txBody>
      </p:sp>
      <p:sp>
        <p:nvSpPr>
          <p:cNvPr id="4048" name="Kicker"/>
          <p:cNvSpPr txBox="1"/>
          <p:nvPr/>
        </p:nvSpPr>
        <p:spPr>
          <a:xfrm>
            <a:off x="320040" y="5961888"/>
            <a:ext cx="11548872" cy="329184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109728" bIns="54864" anchor="t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000" b="0" i="1" dirty="0">
                <a:solidFill>
                  <a:srgbClr val="51607A"/>
                </a:solidFill>
                <a:latin typeface="Arial"/>
                <a:cs typeface="Arial"/>
              </a:rPr>
              <a:t>We do not tell anyone who is at fault. We show which records do not add up, what would explain them, and let a human decide.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PARAKH  ·  SIH26102  ·  MoSPI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B2A4E"/>
                </a:solidFill>
              </a:rPr>
              <a:t>PARAKH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49" name="Strip"/>
          <p:cNvSpPr txBox="1"/>
          <p:nvPr/>
        </p:nvSpPr>
        <p:spPr>
          <a:xfrm>
            <a:off x="320040" y="1152144"/>
            <a:ext cx="11548872" cy="475488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/>
                <a:cs typeface="Arial"/>
              </a:rPr>
              <a:t>Public data, published methods, and a repository anyone can run.</a:t>
            </a:r>
          </a:p>
        </p:txBody>
      </p:sp>
      <p:sp>
        <p:nvSpPr>
          <p:cNvPr id="4050" name="PanelHead"/>
          <p:cNvSpPr txBox="1"/>
          <p:nvPr/>
        </p:nvSpPr>
        <p:spPr>
          <a:xfrm>
            <a:off x="320040" y="1755648"/>
            <a:ext cx="368503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DATA AND GOVERNMENT SOURCES</a:t>
            </a:r>
          </a:p>
        </p:txBody>
      </p:sp>
      <p:sp>
        <p:nvSpPr>
          <p:cNvPr id="4051" name="PanelBody"/>
          <p:cNvSpPr txBox="1"/>
          <p:nvPr/>
        </p:nvSpPr>
        <p:spPr>
          <a:xfrm>
            <a:off x="320040" y="2121408"/>
            <a:ext cx="36850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eSAKSHI — MPLADS citizen dashboard, mplads.mospi.gov.in (all works, payments and completion exports)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MPLADS Guidelines, Ministry of Statistics and Programme Implementation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Comptroller and Auditor General of India — performance audit reports on MPLADS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Lok Sabha and Rajya Sabha member directories, sansad.in</a:t>
            </a:r>
          </a:p>
        </p:txBody>
      </p:sp>
      <p:sp>
        <p:nvSpPr>
          <p:cNvPr id="4052" name="PanelHead"/>
          <p:cNvSpPr txBox="1"/>
          <p:nvPr/>
        </p:nvSpPr>
        <p:spPr>
          <a:xfrm>
            <a:off x="4251960" y="1755648"/>
            <a:ext cx="368503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METHODS AND LITERATURE</a:t>
            </a:r>
          </a:p>
        </p:txBody>
      </p:sp>
      <p:sp>
        <p:nvSpPr>
          <p:cNvPr id="4053" name="PanelBody"/>
          <p:cNvSpPr txBox="1"/>
          <p:nvPr/>
        </p:nvSpPr>
        <p:spPr>
          <a:xfrm>
            <a:off x="4251960" y="2121408"/>
            <a:ext cx="36850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Leys et al., robust outlier detection with the median absolute deviation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Blondel et al., fast unfolding of communities in large networks (Louvain)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Ke et al., LightGBM: a highly efficient gradient boosting decision tree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Saito and Rehmsmeier, precision-recall over ROC on imbalanced data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Benford-style bunching and threshold-avoidance in public procurement</a:t>
            </a:r>
          </a:p>
        </p:txBody>
      </p:sp>
      <p:sp>
        <p:nvSpPr>
          <p:cNvPr id="4054" name="PanelHead"/>
          <p:cNvSpPr txBox="1"/>
          <p:nvPr/>
        </p:nvSpPr>
        <p:spPr>
          <a:xfrm>
            <a:off x="8183880" y="1755648"/>
            <a:ext cx="3685032" cy="36576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</a:p>
        </p:txBody>
      </p:sp>
      <p:sp>
        <p:nvSpPr>
          <p:cNvPr id="4055" name="PanelBody"/>
          <p:cNvSpPr txBox="1"/>
          <p:nvPr/>
        </p:nvSpPr>
        <p:spPr>
          <a:xfrm>
            <a:off x="8183880" y="2121408"/>
            <a:ext cx="36850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09728" tIns="54864" rIns="109728" bIns="54864" anchor="t">
            <a:noAutofit/>
          </a:bodyPr>
          <a:lstStyle/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DuckDB — duckdb.org  ·  Polars — pola.rs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scikit-learn — scikit-learn.org  ·  NetworkX — networkx.org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FastAPI — fastapi.tiangolo.com  ·  Next.js — nextjs.org</a:t>
            </a:r>
          </a:p>
          <a:p>
            <a:pPr algn="l"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000" b="0" i="0" dirty="0">
                <a:solidFill>
                  <a:srgbClr val="334155"/>
                </a:solidFill>
                <a:latin typeface="Arial"/>
                <a:cs typeface="Arial"/>
              </a:rPr>
              <a:t>LightGBM — lightgbm.readthedocs.io</a:t>
            </a:r>
          </a:p>
        </p:txBody>
      </p:sp>
      <p:sp>
        <p:nvSpPr>
          <p:cNvPr id="4056" name="Band"/>
          <p:cNvSpPr txBox="1"/>
          <p:nvPr/>
        </p:nvSpPr>
        <p:spPr>
          <a:xfrm>
            <a:off x="320040" y="4901184"/>
            <a:ext cx="11548872" cy="960120"/>
          </a:xfrm>
          <a:prstGeom prst="rect">
            <a:avLst/>
          </a:prstGeom>
          <a:solidFill>
            <a:srgbClr val="121D38"/>
          </a:solidFill>
          <a:ln>
            <a:noFill/>
          </a:ln>
        </p:spPr>
        <p:txBody>
          <a:bodyPr wrap="square" lIns="109728" tIns="54864" rIns="109728" bIns="54864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2C14E"/>
                </a:solidFill>
                <a:latin typeface="Arial"/>
                <a:cs typeface="Arial"/>
              </a:rPr>
              <a:t>Source code and reproducible build: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lang="en-US" sz="1150" b="0" i="0" dirty="0">
                <a:solidFill>
                  <a:srgbClr val="FFFFFF"/>
                </a:solidFill>
                <a:latin typeface="Arial"/>
                <a:cs typeface="Arial"/>
              </a:rPr>
              <a:t>github.com/Kartik-Garg-13/mplad_sih  —  the full pipeline, the 13 detectors, the five validation methods and 172 tests. Clone it, run two commands, and every figure in this deck rebuilds from the published source data.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